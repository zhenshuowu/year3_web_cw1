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大家好，今天我将向大家介绍我的项目——F1 Insight API。这是一个基于历史一级方程式赛车数据构建的Web API，它不仅实现了基础的增删改查功能，还集成了数据分析、用户认证、全面测试和云端部署等高级特性。这个项目是为COMP3011 Web服务与Web数据课程设计的。大家可以在屏幕上看到我的姓名、学号，以及项目的GitHub仓库链接和在线API文档地址。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本项目的核心目标是构建一个功能完善的Web API。首先，它必须是数据库驱动的，利用丰富的F1历史数据。其次，我希望它能超越简单的增删改查，提供有价值的分析功能。安全方面，通过认证和角色控制来确保数据操作的安全性。最终，交付一个完整的系统，包括本地运行、测试、文档和部署。选择F1数据是因为其高度结构化和关联性，非常适合进行复杂的SQL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在版本控制方面，我们的项目代码完全托管在公共的GitHub仓库中，所有的提交历史都是公开可见的，这体现了我们迭代式的开发过程。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关于交付成果，我们提供了完整的包，包括GitHub仓库、API文档PDF和OpenAPI规范、技术报告、演示文稿以及部署在Render上的在线服务，确保了项目的完整性和可访问性。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我们的API提供了全面且易于理解的文档。通过Swagger UI，用户可以直观地看到所有可用的端点，包括认证、核心资源的CRUD操作以及分析功能。每个端点都详细记录了请求和响应的结构、参数以及可能的错误代码，极大地降低了集成和使用的门槛。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这是系统的整体架构。我选用了FastAPI作为核心框架，它高效且易于开发。整个API通过Routers进行模块化管理，Pydantic负责数据校验。身份验证采用JWT机制，并通过依赖注入实现。数据访问层由SQLAlchemy ORM提供支持，数据库选用PostgreSQL。最后，历史数据通过一个专门的脚本从CSV文件导入到数据库中。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库设计上，系统包含了10个核心的F1数据表和1个用户表。其中，车手、赛道和车队是允许用户进行创建、更新等操作的核心实体。而比赛、成绩等数据则主要用于分析。整个API被划分为六个逻辑分组，包括认证、三个核心实体的管理，以及分析和高级分析模块，这样的设计使得API结构清晰，易于理解和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基础的CRUD功能，本项目还实现了许多高级特性。所有创建和更新操作都需要JWT认证，而删除操作则仅限管理员执行，这大大增强了系统的安全性。列表接口支持多种维度的排序，方便用户查找数据。更重要的是，系统提供了丰富的分析和高级分析端点，涵盖了从职业生涯统计到获胜概率预测等多个方面，为用户提供了深度的数据洞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来自已部署API的真实响应示例，它展示了我们高级分析功能的实际效果。这个响应不仅仅是简单的数据返回，而是综合了车手在特定赛道的历史表现、近期状态等多个维度的历史数据，最终生成一个结构化的、富有洞察力的结果，充分体现了本项目超越基础CRUD操作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系统的可靠性，我编写了全面的测试。总共实现了66个集成测试，使用pytest和FastAPI的TestClient来模拟真实的请求。测试使用独立的SQLite内存数据库，确保了测试的隔离性。测试覆盖了认证、CRUD操作、权限控制、分析功能以及各种异常情况的处理，这使得系统在部署后更加稳定和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已经成功部署在Render平台，并且可以通过在线文档进行访问。在部署过程中，我遇到了一些技术挑战，比如数据库初始化对测试的影响、不同数据库之间的行为差异、部署命令的更新以及文档格式的转换。通过不断的测试、调整配置和代码重构，这些问题都得到了妥善解决，确保了最终部署的顺利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和展望。该项目不仅满足了课程的基本要求，还在测试、部署和分析功能上进行了拓展。当然，它也存在一些局限性，比如缺乏数据库迁移、部分测试覆盖不足、没有缓存机制以及业务逻辑的分层不够清晰。未来，我计划引入服务层来优化代码结构，使用Alembic管理数据库迁移，增强测试，并考虑加入缓存和实时数据集成等功能，进一步完善这个API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3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8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17.svg"/><Relationship Id="rId10" Type="http://schemas.openxmlformats.org/officeDocument/2006/relationships/image" Target="../media/image28.svg"/><Relationship Id="rId4" Type="http://schemas.openxmlformats.org/officeDocument/2006/relationships/image" Target="../media/image24.sv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9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1.svg"/><Relationship Id="rId4" Type="http://schemas.openxmlformats.org/officeDocument/2006/relationships/image" Target="../media/image3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39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E6B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E6B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5000" y="1016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F1 Insight API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Historical Formula 1 Data API with CRUD, Analytics, Authentication, Testing, and Deployment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000" y="2794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00200" y="3238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Core CRUD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4000" y="2794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32200" y="3238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2794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664200" y="3238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Auth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279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696200" y="3238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Deployment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39370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67000" y="4165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175000" y="4127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COMP3011 Web Services and Web Data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" y="4953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[Zhenshuo Wu] | [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201757147</a:t>
            </a: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 rot="-5729">
            <a:off x="2286005" y="54546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8000" y="5715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632200" y="5664200"/>
            <a:ext cx="2463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00" dirty="0">
                <a:solidFill>
                  <a:schemeClr val="bg1"/>
                </a:solidFill>
              </a:rPr>
              <a:t>https://</a:t>
            </a:r>
            <a:r>
              <a:rPr lang="en-US" sz="1100" dirty="0" err="1">
                <a:solidFill>
                  <a:schemeClr val="bg1"/>
                </a:solidFill>
              </a:rPr>
              <a:t>github.com</a:t>
            </a:r>
            <a:r>
              <a:rPr lang="en-US" sz="1100" dirty="0">
                <a:solidFill>
                  <a:schemeClr val="bg1"/>
                </a:solidFill>
              </a:rPr>
              <a:t>/</a:t>
            </a:r>
            <a:r>
              <a:rPr lang="en-US" sz="1100" dirty="0" err="1">
                <a:solidFill>
                  <a:schemeClr val="bg1"/>
                </a:solidFill>
              </a:rPr>
              <a:t>ZhenshuoWu</a:t>
            </a:r>
            <a:r>
              <a:rPr lang="en-US" sz="1100" dirty="0">
                <a:solidFill>
                  <a:schemeClr val="bg1"/>
                </a:solidFill>
              </a:rPr>
              <a:t>/year3_web_cw1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5715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31000" y="56642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f1-insight-api.onrender.com/docs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Aim and Motivation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6B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Aim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14500" y="215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Build a database-driven web API using historical Formula 1 data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Beyond Basics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75500" y="215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Go beyond basic CRUD by providing analytical and advanced analytical endpoints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302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42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Security Controls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14500" y="3810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Use authentication and role-based access control for protected operations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302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619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75500" y="342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Full Delivery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75500" y="3810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Deliver a system that is runnable locally, testable, documented, and deployed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270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14500" y="50800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Domain Choice: F1 Data Analysis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14500" y="54610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Chosen domain: F1 data is highly relational and well suited to SQL-based analysis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Version Control and Deliverables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588000" cy="3048000"/>
          </a:xfrm>
          <a:prstGeom prst="roundRect">
            <a:avLst>
              <a:gd name="adj" fmla="val 1434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Repository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20810" b="2665"/>
          <a:stretch>
            <a:fillRect/>
          </a:stretch>
        </p:blipFill>
        <p:spPr>
          <a:xfrm>
            <a:off x="762000" y="2108200"/>
            <a:ext cx="5080000" cy="24638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4699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Public GitHub repository with visible commit history and iterative development process.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1524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1727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Deliverables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22860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E6B333"/>
              </a:buClr>
              <a:buFont typeface="Wingdings"/>
              <a:buChar char="v"/>
              <a:defRPr/>
            </a:pPr>
            <a:r>
              <a:rPr lang="en-US" sz="1800" b="0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Public GitHub repository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E6B333"/>
              </a:buClr>
              <a:buFont typeface="Wingdings"/>
              <a:buChar char="v"/>
            </a:pPr>
            <a:r>
              <a:rPr lang="en-US" sz="1800" b="0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API documentation PDF &amp; OpenAPI spec</a:t>
            </a:r>
          </a:p>
          <a:p>
            <a:pPr marL="228600" indent="-228600" algn="l">
              <a:lnSpc>
                <a:spcPct val="125000"/>
              </a:lnSpc>
              <a:buClr>
                <a:srgbClr val="E6B333"/>
              </a:buClr>
              <a:buFont typeface="Wingdings"/>
              <a:buChar char="v"/>
            </a:pPr>
            <a:r>
              <a:rPr lang="en-US" sz="1800" b="0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Technical report</a:t>
            </a:r>
          </a:p>
          <a:p>
            <a:pPr marL="228600" indent="-228600" algn="l">
              <a:lnSpc>
                <a:spcPct val="125000"/>
              </a:lnSpc>
              <a:buClr>
                <a:srgbClr val="E6B333"/>
              </a:buClr>
              <a:buFont typeface="Wingdings"/>
              <a:buChar char="v"/>
            </a:pPr>
            <a:r>
              <a:rPr lang="en-US" sz="1800" b="0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Presentation slides</a:t>
            </a:r>
          </a:p>
          <a:p>
            <a:pPr marL="228600" indent="-228600" algn="l">
              <a:lnSpc>
                <a:spcPct val="125000"/>
              </a:lnSpc>
              <a:buClr>
                <a:srgbClr val="E6B333"/>
              </a:buClr>
              <a:buFont typeface="Wingdings"/>
              <a:buChar char="v"/>
            </a:pPr>
            <a:r>
              <a:rPr lang="en-US" sz="1800" b="0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Live deployment on Render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E6B333">
                  <a:alpha val="100000"/>
                </a:srgbClr>
              </a:gs>
              <a:gs pos="100000">
                <a:srgbClr val="E6B333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API Documentation Overview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580" r="580"/>
          <a:stretch>
            <a:fillRect/>
          </a:stretch>
        </p:blipFill>
        <p:spPr>
          <a:xfrm>
            <a:off x="322216" y="1778000"/>
            <a:ext cx="2794000" cy="3048000"/>
          </a:xfrm>
          <a:prstGeom prst="rect">
            <a:avLst/>
          </a:prstGeom>
          <a:noFill/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30" r="6681"/>
          <a:stretch>
            <a:fillRect/>
          </a:stretch>
        </p:blipFill>
        <p:spPr>
          <a:xfrm>
            <a:off x="3255512" y="1790770"/>
            <a:ext cx="3427989" cy="3022459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8580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Documentation Highlights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2413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302500" y="23622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Authentication endpoints for registration and login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02500" y="29972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Full CRUD groups for core resources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368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02500" y="36322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 and advanced analytics endpoint groups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431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42672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Request/response schemas and error codes documented in expanded views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778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Accessible at /docs endpoint | Auto-generated with OpenAPI Spec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947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Architecture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95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Core Framework (FastAPI)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2438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FastAPI used as the main web framework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905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15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56200" y="2095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Routing Management (Routers)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156200" y="2438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Routers handle endpoint definitions and request flow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905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4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88400" y="2095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Validation (Pydantic)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788400" y="2438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Pydantic schemas validate request and response data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429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619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Authentication (JWT)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3962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JWT-based authentication is implemented through dependencies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3429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3683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56200" y="3619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Access (SQLAlchemy)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156200" y="3962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SQLAlchemy provides ORM-based database access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3429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3683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88400" y="3619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Database (PostgreSQL)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788400" y="3962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 is used for development and deployment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4953000"/>
            <a:ext cx="106426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2578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524000" y="51435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Import (CSV Script)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524000" y="54864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Historical F1 data is imported through a dedicated CSV import script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Database and API Design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Database Schema Overview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5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Core Structure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2413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10 imported F1 tables plus 1 users table for authentication.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94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Editable Entities (CRUD)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97000" y="330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 editable entities: drivers, circuits, constructors.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76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72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 Support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97000" y="5080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Supporting analytical entities: races, results, qualifying, pit_stops, lap_times.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API Endpoint Grouping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159000"/>
            <a:ext cx="4699000" cy="571500"/>
          </a:xfrm>
          <a:prstGeom prst="roundRect">
            <a:avLst>
              <a:gd name="adj" fmla="val 1111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2260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Authentication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857500"/>
            <a:ext cx="4699000" cy="571500"/>
          </a:xfrm>
          <a:prstGeom prst="roundRect">
            <a:avLst>
              <a:gd name="adj" fmla="val 1111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98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29591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Drivers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556000"/>
            <a:ext cx="4699000" cy="571500"/>
          </a:xfrm>
          <a:prstGeom prst="roundRect">
            <a:avLst>
              <a:gd name="adj" fmla="val 1111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683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48500" y="3657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Circuits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4254500"/>
            <a:ext cx="4699000" cy="571500"/>
          </a:xfrm>
          <a:prstGeom prst="roundRect">
            <a:avLst>
              <a:gd name="adj" fmla="val 1111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381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048500" y="43561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Constructors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4953000"/>
            <a:ext cx="4699000" cy="571500"/>
          </a:xfrm>
          <a:prstGeom prst="roundRect">
            <a:avLst>
              <a:gd name="adj" fmla="val 1111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5080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048500" y="5054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 &amp; Advanced Analytics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Key Features Beyond Basic CRUD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Full CRUD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Full CRUD for drivers, circuits, and constructors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397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587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927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JWT Auth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1968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JWT authentication for create and update operations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397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400" y="1587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249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Admin Control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1968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Admin-only deletion for safer access control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048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320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Multi-dim Sort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3619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Multi-dimensional sorting on list endpoints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3048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3238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092700" y="320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3619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 for career stats, season progression, pit stop analysis, and circuit history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3048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323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24900" y="320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Advanced Insights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80400" y="3619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Advanced analytics for win probability, performance summary, teammate comparison, and leaderboard generation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E6B33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 API Response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3" r="33"/>
          <a:stretch>
            <a:fillRect/>
          </a:stretch>
        </p:blipFill>
        <p:spPr>
          <a:xfrm>
            <a:off x="762000" y="1905000"/>
            <a:ext cx="3556000" cy="3009900"/>
          </a:xfrm>
          <a:prstGeom prst="roundRect">
            <a:avLst>
              <a:gd name="adj" fmla="val 4219"/>
            </a:avLst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2032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257800" y="1968500"/>
            <a:ext cx="617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Real response from the deployed API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266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257800" y="2603500"/>
            <a:ext cx="617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Demonstrates advanced analytics beyond CRUD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3302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57800" y="3238500"/>
            <a:ext cx="6172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Combines multiple historical factors into a structured result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092">
            <a:off x="762004" y="5327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Data visualization reflects real-time processing capabilities of the backend engine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106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Testing and Reliability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E6B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905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Integration Tests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66 integration tests implemented with pytest.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14500" y="3048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Real HTTP Simulation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FastAPI TestClient used to test real HTTP behaviour.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18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14500" y="4191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Isolated Environment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SQLite in-memory database for isolated execution.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61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14500" y="5334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Dependency Override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Dependency override separates tests from production.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Test coverage includes: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540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2489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Authentication and JWT validation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048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2997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CRUD behaviour verification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556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3505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Role-based access control (RBAC)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0640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4013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 endpoints validation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5720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4521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Failure cases (404, 401, 403, 409)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080000"/>
            <a:ext cx="4699000" cy="889000"/>
          </a:xfrm>
          <a:prstGeom prst="roundRect">
            <a:avLst>
              <a:gd name="adj" fmla="val 14285"/>
            </a:avLst>
          </a:prstGeom>
          <a:solidFill>
            <a:srgbClr val="E6B333">
              <a:alpha val="10000"/>
            </a:srgbClr>
          </a:solidFill>
          <a:ln cap="flat" cmpd="sng">
            <a:solidFill>
              <a:srgbClr val="CD991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04000" y="5207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Comprehensive error handling ensures system stability under edge conditions.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1569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Deployment and Technical Challenges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Successfully deployed (Render)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1905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Successfully deployed on Render with managed PostgreSQL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651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524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Public API Access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1905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Public deployment available through live API documentation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92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07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Main Challenges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492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Import-time database initialisation affected tests</a:t>
            </a:r>
            <a:endParaRPr lang="en-US" sz="1100"/>
          </a:p>
          <a:p>
            <a:pPr marL="190500" indent="-1905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SQLite and PostgreSQL behave differently in some cases</a:t>
            </a:r>
          </a:p>
          <a:p>
            <a:pPr marL="190500" indent="-1905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Render commands had to be updated after repository restructuring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292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6B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11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307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Solutions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492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25000"/>
              </a:lnSpc>
              <a:buClr>
                <a:srgbClr val="FFFFFF"/>
              </a:buClr>
              <a:buFont typeface="Wingdings"/>
              <a:buChar char="ü"/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These issues were resolved through testing, configuration updates, and refactoring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E6B333">
                  <a:alpha val="20000"/>
                </a:srgbClr>
              </a:gs>
              <a:gs pos="100000">
                <a:srgbClr val="121212">
                  <a:alpha val="5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CD9919">
                    <a:alpha val="20000"/>
                  </a:srgbClr>
                </a:gs>
                <a:gs pos="100000">
                  <a:srgbClr val="000000">
                    <a:alpha val="5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3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87500" y="5270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Summary:</a:t>
            </a: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By iterating on tests, updating configurations, and refactoring code, we successfully overcame all obstacles to ensure a smooth transition from development to production.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1074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Reflection and Future Work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651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032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The project satisfies the coursework requirements and extends beyond minimum CRUD. Strongest improvements came from testing, deployment, and analytics design.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175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Limitations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3556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No migration workflow, limited tests for some advanced analytics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No caching for expensive aggregation queries, business logic is still mainly in router modules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270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953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333"/>
                </a:solidFill>
                <a:latin typeface="Noto Sans SC"/>
                <a:ea typeface="Noto Sans SC"/>
                <a:cs typeface="Noto Sans SC"/>
                <a:sym typeface="Noto Sans SC"/>
              </a:rPr>
              <a:t>Future Work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5334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Add service layer separation, introduce Alembic migrations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Improve analytics test depth, add caching and live data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Macintosh PowerPoint</Application>
  <PresentationFormat>宽屏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SC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Zhenshuo Wu [sc23zw3]</cp:lastModifiedBy>
  <cp:revision>1</cp:revision>
  <dcterms:modified xsi:type="dcterms:W3CDTF">2026-03-20T20:36:04Z</dcterms:modified>
</cp:coreProperties>
</file>